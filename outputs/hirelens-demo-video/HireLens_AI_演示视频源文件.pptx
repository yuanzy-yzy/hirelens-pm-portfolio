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d858d5b544218" /><Relationship Type="http://schemas.openxmlformats.org/officeDocument/2006/relationships/extended-properties" Target="/docProps/app.xml" Id="R8f5e6e62dabe4411" /><Relationship Type="http://schemas.openxmlformats.org/officeDocument/2006/relationships/officeDocument" Target="/ppt/presentation.xml" Id="R74d6f5c0d40142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6ff154af846dc"/>
  </p:sldMasterIdLst>
  <p:notesMasterIdLst>
    <p:notesMasterId xmlns:r="http://schemas.openxmlformats.org/officeDocument/2006/relationships" r:id="R0e06166051ae433a"/>
  </p:notesMasterIdLst>
  <p:sldIdLst>
    <p:sldId xmlns:r="http://schemas.openxmlformats.org/officeDocument/2006/relationships" id="256" r:id="R67762b5fc4814406"/>
    <p:sldId xmlns:r="http://schemas.openxmlformats.org/officeDocument/2006/relationships" id="257" r:id="R03ccef4059444208"/>
    <p:sldId xmlns:r="http://schemas.openxmlformats.org/officeDocument/2006/relationships" id="258" r:id="R04644096f0b344e2"/>
    <p:sldId xmlns:r="http://schemas.openxmlformats.org/officeDocument/2006/relationships" id="259" r:id="Rab408dfcce934503"/>
    <p:sldId xmlns:r="http://schemas.openxmlformats.org/officeDocument/2006/relationships" id="260" r:id="R28927833ba464d35"/>
    <p:sldId xmlns:r="http://schemas.openxmlformats.org/officeDocument/2006/relationships" id="261" r:id="R2f845e17963c42de"/>
    <p:sldId xmlns:r="http://schemas.openxmlformats.org/officeDocument/2006/relationships" id="262" r:id="R70e3ecfb20bd44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91cd534b864a2b" /><Relationship Type="http://schemas.openxmlformats.org/officeDocument/2006/relationships/slideMaster" Target="/ppt/slideMasters/slideMaster1.xml" Id="Rfd06ff154af846dc" /><Relationship Type="http://schemas.openxmlformats.org/officeDocument/2006/relationships/notesMaster" Target="/ppt/notesMasters/notesMaster1.xml" Id="R0e06166051ae433a" /><Relationship Type="http://schemas.openxmlformats.org/officeDocument/2006/relationships/presProps" Target="/ppt/presProps.xml" Id="Re43df8cadc934384" /><Relationship Type="http://schemas.openxmlformats.org/officeDocument/2006/relationships/tableStyles" Target="/ppt/tableStyles.xml" Id="Rf5847a5ae5c6458e" /><Relationship Type="http://schemas.openxmlformats.org/officeDocument/2006/relationships/slide" Target="/ppt/slides/slide1.xml" Id="R67762b5fc4814406" /><Relationship Type="http://schemas.openxmlformats.org/officeDocument/2006/relationships/slide" Target="/ppt/slides/slide2.xml" Id="R03ccef4059444208" /><Relationship Type="http://schemas.openxmlformats.org/officeDocument/2006/relationships/slide" Target="/ppt/slides/slide3.xml" Id="R04644096f0b344e2" /><Relationship Type="http://schemas.openxmlformats.org/officeDocument/2006/relationships/slide" Target="/ppt/slides/slide4.xml" Id="Rab408dfcce934503" /><Relationship Type="http://schemas.openxmlformats.org/officeDocument/2006/relationships/slide" Target="/ppt/slides/slide5.xml" Id="R28927833ba464d35" /><Relationship Type="http://schemas.openxmlformats.org/officeDocument/2006/relationships/slide" Target="/ppt/slides/slide6.xml" Id="R2f845e17963c42de" /><Relationship Type="http://schemas.openxmlformats.org/officeDocument/2006/relationships/slide" Target="/ppt/slides/slide7.xml" Id="R70e3ecfb20bd44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a5bba4f71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56cbc539a414f" /><Relationship Type="http://schemas.openxmlformats.org/officeDocument/2006/relationships/notesMaster" Target="/ppt/notesMasters/notesMaster1.xml" Id="Ra2d3d6e7d29e40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9ae411c88a4901" /><Relationship Type="http://schemas.openxmlformats.org/officeDocument/2006/relationships/notesMaster" Target="/ppt/notesMasters/notesMaster1.xml" Id="Ra05de81655f94f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9956758bbe4d77" /><Relationship Type="http://schemas.openxmlformats.org/officeDocument/2006/relationships/notesMaster" Target="/ppt/notesMasters/notesMaster1.xml" Id="Rf4a087b70797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e1469500e944a7" /><Relationship Type="http://schemas.openxmlformats.org/officeDocument/2006/relationships/notesMaster" Target="/ppt/notesMasters/notesMaster1.xml" Id="R9276f810772d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f84c4c2e20428b" /><Relationship Type="http://schemas.openxmlformats.org/officeDocument/2006/relationships/notesMaster" Target="/ppt/notesMasters/notesMaster1.xml" Id="R2d3909b88301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c73be9e4245c1" /><Relationship Type="http://schemas.openxmlformats.org/officeDocument/2006/relationships/notesMaster" Target="/ppt/notesMasters/notesMaster1.xml" Id="Ra61ff5e565e141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4dd76cbbc64389" /><Relationship Type="http://schemas.openxmlformats.org/officeDocument/2006/relationships/notesMaster" Target="/ppt/notesMasters/notesMaster1.xml" Id="R18da0373e6d6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fd7edbdc7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1eb742e244af9" /><Relationship Type="http://schemas.openxmlformats.org/officeDocument/2006/relationships/slideLayout" Target="/ppt/slideLayouts/slideLayout1.xml" Id="R8911fdee45dd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1fdee45dd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2360d7ac243f7" /><Relationship Type="http://schemas.openxmlformats.org/officeDocument/2006/relationships/notesSlide" Target="/ppt/notesSlides/notesSlide1.xml" Id="R6867d00b11a3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7abf05dc24741" /><Relationship Type="http://schemas.openxmlformats.org/officeDocument/2006/relationships/notesSlide" Target="/ppt/notesSlides/notesSlide2.xml" Id="R0227fece0646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7888006b4caa" /><Relationship Type="http://schemas.openxmlformats.org/officeDocument/2006/relationships/notesSlide" Target="/ppt/notesSlides/notesSlide3.xml" Id="R0392e5b0138241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1e257b0b74c58" /><Relationship Type="http://schemas.openxmlformats.org/officeDocument/2006/relationships/image" Target="/ppt/media/image.jpeg" Id="R6c6d858ee2874ff5" /><Relationship Type="http://schemas.openxmlformats.org/officeDocument/2006/relationships/notesSlide" Target="/ppt/notesSlides/notesSlide4.xml" Id="Rdd0bbe3a3cdf49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e2328783f446d" /><Relationship Type="http://schemas.openxmlformats.org/officeDocument/2006/relationships/image" Target="/ppt/media/image2.jpeg" Id="Rc05695bc9c744691" /><Relationship Type="http://schemas.openxmlformats.org/officeDocument/2006/relationships/image" Target="/ppt/media/image3.jpeg" Id="R04da30046ce44cea" /><Relationship Type="http://schemas.openxmlformats.org/officeDocument/2006/relationships/notesSlide" Target="/ppt/notesSlides/notesSlide5.xml" Id="R059c3a95f0c345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41bb6b5a47e4" /><Relationship Type="http://schemas.openxmlformats.org/officeDocument/2006/relationships/notesSlide" Target="/ppt/notesSlides/notesSlide6.xml" Id="R6138b8cbc44e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dde939964b91" /><Relationship Type="http://schemas.openxmlformats.org/officeDocument/2006/relationships/notesSlide" Target="/ppt/notesSlides/notesSlide7.xml" Id="Re7b96919949248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70DC-60EE-4CB5-BE11-1C3DA35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4D4FF"/>
                </a:solidFill>
              </a:defRPr>
            </a:pPr>
            <a:r>
              <a:rPr sz="1350" b="1">
                <a:solidFill>
                  <a:srgbClr val="74D4FF"/>
                </a:solidFill>
              </a:rPr>
              <a:t>HIRELENS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F1D65-EA77-4660-A0EB-A1EC95C6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技术人才招聘助手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07F17-30EA-42CC-99E1-21D2DB7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2E8F0"/>
                </a:solidFill>
              </a:defRPr>
            </a:pPr>
            <a:r>
              <a:rPr sz="1875">
                <a:solidFill>
                  <a:srgbClr val="E2E8F0"/>
                </a:solidFill>
              </a:rPr>
              <a:t>用可解释的方式，帮助 HR 初筛技术岗位简历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5FA81-EF2F-4BC6-8854-F993F00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0A1B9"/>
                </a:solidFill>
              </a:defRPr>
            </a:pPr>
            <a:r>
              <a:rPr sz="1125">
                <a:solidFill>
                  <a:srgbClr val="90A1B9"/>
                </a:solidFill>
              </a:rPr>
              <a:t>个人 AI 产品经理项目  ·  可运行 Web Demo  ·  规则基线版本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00B0C-D5B2-462C-99D5-1307D6A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69A8"/>
          </a:solidFill>
          <a:ln xmlns:a="http://schemas.openxmlformats.org/drawingml/2006/main" w="19050">
            <a:solidFill>
              <a:srgbClr val="00A6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DC1D8-9F18-4B46-8988-994B62AA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JD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5E0EB-582A-47BB-AF40-8206A8F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E6FE"/>
                </a:solidFill>
              </a:defRPr>
            </a:pPr>
            <a:r>
              <a:rPr sz="2250" b="1">
                <a:solidFill>
                  <a:srgbClr val="B8E6FE"/>
                </a:solidFill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71763-56C7-4F10-BAA8-7428085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简历</a:t>
            </a:r>
          </a:p>
        </p:txBody>
      </p:sp>
    </p:spTree>
    <p:extLst>
      <p:ext uri="{BB962C8B-B14F-4D97-AF65-F5344CB8AC3E}">
        <p14:creationId xmlns:p14="http://schemas.microsoft.com/office/powerpoint/2010/main" val="719979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F5AE9-9C62-4A04-A4CB-4ACF160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81EF8-53F5-4606-8DC6-AEF041E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技术岗位初筛，难点不是“有没有关键词”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9B624-64BC-428E-B9B1-3454C9A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91B5F-3317-42C3-9A7B-36B1A32B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0AB35-A392-4359-B357-28BAC3D5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招聘人员需要在有限时间内回答三个问题：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2F70F-3DC2-4E51-BDD8-0CAA5DD7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这个人是否满足岗位核心要求？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5DD4-3A20-456E-97BE-7DBF88E8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证据在哪里？哪些信息还需要核验？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392FA-9B18-40C1-A3FA-85628DF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98A"/>
                </a:solidFill>
              </a:defRPr>
            </a:pPr>
            <a:r>
              <a:rPr sz="1650" b="1">
                <a:solidFill>
                  <a:srgbClr val="00598A"/>
                </a:solidFill>
              </a:rPr>
              <a:t>HireLens 的定位：在 HR 初筛和业务面试之间，提供可追溯的辅助判断。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9B376-A660-4083-A884-FEAB4BB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使用场景：AI、具身智能、嵌入式等技术团队的简历初筛</a:t>
            </a:r>
          </a:p>
        </p:txBody>
      </p:sp>
    </p:spTree>
    <p:extLst>
      <p:ext uri="{BB962C8B-B14F-4D97-AF65-F5344CB8AC3E}">
        <p14:creationId xmlns:p14="http://schemas.microsoft.com/office/powerpoint/2010/main" val="574549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070C0-9762-4A17-B38A-6C7CBE51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1CAE1-75A4-46C3-B940-37080BD5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产品把一次初筛拆成四个可解释步骤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BEEC6-BF64-43F2-8053-6F8D8FE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3B1D-126D-4926-911A-9A29B9D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01E9D-E0F7-48C8-B4A1-E3BD3578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384BC-7112-471C-A9C3-352A3A9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9A8"/>
                </a:solidFill>
              </a:defRPr>
            </a:pPr>
            <a:r>
              <a:rPr sz="1350" b="1">
                <a:solidFill>
                  <a:srgbClr val="0069A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73F0B-98B0-40EF-990E-E6A8E33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输入岗位 JD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1AD0F-5DF0-446B-830D-9C6BAE3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识别岗位类型与能力要求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C404B-B0C8-4A5B-B82F-BD2C7F4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6F4"/>
                </a:solidFill>
              </a:defRPr>
            </a:pPr>
            <a:r>
              <a:rPr sz="195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D282A-C15B-4EEC-BD26-EC3BD56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9953D-2D68-44C5-893F-74F7D5AF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9A8"/>
                </a:solidFill>
              </a:defRPr>
            </a:pPr>
            <a:r>
              <a:rPr sz="1350" b="1">
                <a:solidFill>
                  <a:srgbClr val="0069A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C23CC-2314-4CB8-9EC1-A12F3B25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输入脱敏简历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C051-885C-4E06-B772-88A024E1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读取候选人项目、技能与经历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E5C3E-E564-45C3-91D0-F105CEB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6F4"/>
                </a:solidFill>
              </a:defRPr>
            </a:pPr>
            <a:r>
              <a:rPr sz="195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F2D3A-0F64-4823-A795-AB93ADC8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DF706-1847-4535-B91E-9A075DCB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9A8"/>
                </a:solidFill>
              </a:defRPr>
            </a:pPr>
            <a:r>
              <a:rPr sz="1350" b="1">
                <a:solidFill>
                  <a:srgbClr val="0069A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BF3B3-6EBF-4BA0-A4EE-0772D40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逐项匹配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ADE51-37EE-420C-B460-2BE06682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提取原文证据并标记缺口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6BF6C-024F-4F8C-97D6-3941462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6F4"/>
                </a:solidFill>
              </a:defRPr>
            </a:pPr>
            <a:r>
              <a:rPr sz="195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ECED7-F558-490B-B94A-80979253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00A6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E1E3-2FBF-4669-8DEF-FF501FC6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9A8"/>
                </a:solidFill>
              </a:defRPr>
            </a:pPr>
            <a:r>
              <a:rPr sz="1350" b="1">
                <a:solidFill>
                  <a:srgbClr val="0069A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0C62A-1F29-4BB4-9098-66289B4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辅助决策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3BE9B-46FF-44DD-8562-BD6CF07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输出分数、风险和面试追问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FA9E8-427F-4ABC-908A-73CDFDB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598A"/>
                </a:solidFill>
              </a:defRPr>
            </a:pPr>
            <a:r>
              <a:rPr sz="1650" b="1">
                <a:solidFill>
                  <a:srgbClr val="00598A"/>
                </a:solidFill>
              </a:rPr>
              <a:t>核心原则：展示“为什么这样判断”，而不是只给一个黑盒分数。</a:t>
            </a:r>
          </a:p>
        </p:txBody>
      </p:sp>
    </p:spTree>
    <p:extLst>
      <p:ext uri="{BB962C8B-B14F-4D97-AF65-F5344CB8AC3E}">
        <p14:creationId xmlns:p14="http://schemas.microsoft.com/office/powerpoint/2010/main" val="320371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58217-611D-4C93-BD99-A58E8368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73986-7D99-4316-89F0-21D96F66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输入 JD 与简历后，系统先形成岗位画像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06B6F-93A9-46E7-BCB3-4C07A691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47875-43F7-4ECD-88E4-FA32DBA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d858ee2874ff5"/>
          <a:stretch xmlns:a="http://schemas.openxmlformats.org/drawingml/2006/main"/>
        </p:blipFill>
        <p:spPr>
          <a:xfrm xmlns:a="http://schemas.openxmlformats.org/drawingml/2006/main">
            <a:off x="1017497" y="1790700"/>
            <a:ext cx="60993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A57AF-15C3-4890-BA3E-22B47AC6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岗位画像包含：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2CDE-52FB-4654-A31E-2C74B30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能力项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权重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证据要求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风险提示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待核验信息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8D4AA-7371-4163-9C1C-FA42FAE5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示例岗位：嵌入式/技术研发岗位</a:t>
            </a:r>
          </a:p>
        </p:txBody>
      </p:sp>
    </p:spTree>
    <p:extLst>
      <p:ext uri="{BB962C8B-B14F-4D97-AF65-F5344CB8AC3E}">
        <p14:creationId xmlns:p14="http://schemas.microsoft.com/office/powerpoint/2010/main" val="1498884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1C436-4FF7-42AE-8CB1-21DA51B0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74212-DFE1-4F25-A35A-CC1DBBC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结果不仅是分数，还会给出证据、风险和追问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42054-97B4-4588-9C7B-D1522A3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6392B-C967-47BB-875F-0B1A14BD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695bc9c744691"/>
          <a:stretch xmlns:a="http://schemas.openxmlformats.org/drawingml/2006/main"/>
        </p:blipFill>
        <p:spPr>
          <a:xfrm xmlns:a="http://schemas.openxmlformats.org/drawingml/2006/main">
            <a:off x="685800" y="1876139"/>
            <a:ext cx="4762500" cy="4201098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a30046ce44cea"/>
          <a:stretch xmlns:a="http://schemas.openxmlformats.org/drawingml/2006/main"/>
        </p:blipFill>
        <p:spPr>
          <a:xfrm xmlns:a="http://schemas.openxmlformats.org/drawingml/2006/main">
            <a:off x="5715000" y="2422922"/>
            <a:ext cx="5524500" cy="31075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B998-22B1-46EC-91E1-988E52A6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86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48E"/>
                </a:solidFill>
              </a:defRPr>
            </a:pPr>
            <a:r>
              <a:rPr sz="1125">
                <a:solidFill>
                  <a:srgbClr val="62748E"/>
                </a:solidFill>
              </a:rPr>
              <a:t>左：候选人排序与匹配状态    右：逐项评估记录</a:t>
            </a:r>
          </a:p>
        </p:txBody>
      </p:sp>
    </p:spTree>
    <p:extLst>
      <p:ext uri="{BB962C8B-B14F-4D97-AF65-F5344CB8AC3E}">
        <p14:creationId xmlns:p14="http://schemas.microsoft.com/office/powerpoint/2010/main" val="829985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9D54C-B12E-48A3-A17B-9427AAA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95DD1-DCF5-4439-8A0E-7305F78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当前版本用配置化规则实现可复现的判断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34E81-BC81-48D6-B7F4-40613AF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06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4A88-1D94-4CFE-99DD-A12C615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23ACF-E915-4C9C-B27E-1372635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岗位要求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C5844-230A-4C6A-8DF0-165B500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能力规则表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F7D79-4D8C-44BB-99A5-38CA333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简历证据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63A88-053C-49D7-93D7-8B290756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匹配结果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44EB6-22AD-428A-B141-F66967B5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“熟悉 Linux、具备 C/C++ 嵌入式项目经验”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5AA12-377D-4006-A5CF-D91172E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同义词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强证据/弱证据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能力权重/阈值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07E13-B017-486A-A61A-20F50EA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“Linux 驱动开发”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“C++ 项目”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C59CD-215C-4E67-BB8C-549D6C8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满足 / 部分满足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证据 / 风险 / 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207A2-36E7-4C49-B649-8AEFB07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A6F4"/>
                </a:solidFill>
              </a:defRPr>
            </a:pPr>
            <a:r>
              <a:rPr sz="210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F439F-0B26-4340-AFE1-3222EADE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A6F4"/>
                </a:solidFill>
              </a:defRPr>
            </a:pPr>
            <a:r>
              <a:rPr sz="210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DFC19-3544-4E44-A5AF-E2961A2E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A6F4"/>
                </a:solidFill>
              </a:defRPr>
            </a:pPr>
            <a:r>
              <a:rPr sz="2100" b="1">
                <a:solidFill>
                  <a:srgbClr val="00A6F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A2CB5-4677-4AD9-8EC9-80ADFEA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98A"/>
                </a:solidFill>
              </a:defRPr>
            </a:pPr>
            <a:r>
              <a:rPr sz="1500" b="1">
                <a:solidFill>
                  <a:srgbClr val="00598A"/>
                </a:solidFill>
              </a:rPr>
              <a:t>这不是“模型已经理解了简历”，而是先用透明规则验证产品流程；后续可接入大模型增强语义匹配。</a:t>
            </a:r>
          </a:p>
        </p:txBody>
      </p:sp>
    </p:spTree>
    <p:extLst>
      <p:ext uri="{BB962C8B-B14F-4D97-AF65-F5344CB8AC3E}">
        <p14:creationId xmlns:p14="http://schemas.microsoft.com/office/powerpoint/2010/main" val="90820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1D2CB-D16D-4A39-9032-59FABB6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HIRELENS AI  ·  个人产品经理作品集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3113-9FEC-4F13-8FD8-1BC07C4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当前成果与下一步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AAF96-4C2C-47C5-875B-3CD6CB6E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6FE7-34D9-475F-9E9F-EB81C91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A2658-B866-477B-B746-4256352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598A"/>
                </a:solidFill>
              </a:defRPr>
            </a:pPr>
            <a:r>
              <a:rPr sz="1800" b="1">
                <a:solidFill>
                  <a:srgbClr val="00598A"/>
                </a:solidFill>
              </a:rPr>
              <a:t>现在已经完成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5CF0F-924B-476B-AAFF-A50F0A7A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可运行 Web Demo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JD-简历匹配流程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20 条规则基线测试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PRD、指标、合规和竞品分析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A6447-7C55-4C18-A1C0-18C2980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598A"/>
                </a:solidFill>
              </a:defRPr>
            </a:pPr>
            <a:r>
              <a:rPr sz="1800" b="1">
                <a:solidFill>
                  <a:srgbClr val="00598A"/>
                </a:solidFill>
              </a:rPr>
              <a:t>下一步迭代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5245D-5124-48EF-9F87-4239B01F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接入大模型做语义匹配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支持 PDF/Word 简历解析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批量筛选与结果导出</a:t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用真实授权样本做盲测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F6ADE-3704-4348-972B-486D6C8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个人作品集 Demo，不用于真实招聘决策；最终判断仍由 HR 与业务面试官完成。</a:t>
            </a:r>
          </a:p>
        </p:txBody>
      </p:sp>
    </p:spTree>
    <p:extLst>
      <p:ext uri="{BB962C8B-B14F-4D97-AF65-F5344CB8AC3E}">
        <p14:creationId xmlns:p14="http://schemas.microsoft.com/office/powerpoint/2010/main" val="1781559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2026-08-21T03:15:14.2320000Z</dcterms:created>
  <dcterms:modified xsi:type="dcterms:W3CDTF">2026-08-21T03:15:14.2330000Z</dcterms:modified>
</coreProperties>
</file>